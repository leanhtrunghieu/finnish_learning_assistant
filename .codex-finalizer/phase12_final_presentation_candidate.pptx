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33477ea0434b9e" /><Relationship Type="http://schemas.openxmlformats.org/officeDocument/2006/relationships/extended-properties" Target="/docProps/app.xml" Id="R1e1bd842cb334e85" /><Relationship Type="http://schemas.openxmlformats.org/officeDocument/2006/relationships/officeDocument" Target="/ppt/presentation.xml" Id="Rf7025037bb3f4e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d27fc4d29c4f9f"/>
  </p:sldMasterIdLst>
  <p:notesMasterIdLst>
    <p:notesMasterId xmlns:r="http://schemas.openxmlformats.org/officeDocument/2006/relationships" r:id="R0f27624533de47d3"/>
  </p:notesMasterIdLst>
  <p:sldIdLst>
    <p:sldId xmlns:r="http://schemas.openxmlformats.org/officeDocument/2006/relationships" id="256" r:id="R037fa523565c4873"/>
    <p:sldId xmlns:r="http://schemas.openxmlformats.org/officeDocument/2006/relationships" id="257" r:id="Rccb18d06e4bc4176"/>
    <p:sldId xmlns:r="http://schemas.openxmlformats.org/officeDocument/2006/relationships" id="258" r:id="R57e36ea2c80d48c3"/>
    <p:sldId xmlns:r="http://schemas.openxmlformats.org/officeDocument/2006/relationships" id="259" r:id="R4eb267212ab5434f"/>
    <p:sldId xmlns:r="http://schemas.openxmlformats.org/officeDocument/2006/relationships" id="260" r:id="Rdd79a25807ee4159"/>
    <p:sldId xmlns:r="http://schemas.openxmlformats.org/officeDocument/2006/relationships" id="261" r:id="R53e70ac4a6e04bfb"/>
    <p:sldId xmlns:r="http://schemas.openxmlformats.org/officeDocument/2006/relationships" id="262" r:id="Rf2c499589dda4d9d"/>
    <p:sldId xmlns:r="http://schemas.openxmlformats.org/officeDocument/2006/relationships" id="263" r:id="Rdad106019eef43f7"/>
    <p:sldId xmlns:r="http://schemas.openxmlformats.org/officeDocument/2006/relationships" id="264" r:id="Rfe2501fdd94345a6"/>
    <p:sldId xmlns:r="http://schemas.openxmlformats.org/officeDocument/2006/relationships" id="265" r:id="R83976cbac0614bf7"/>
    <p:sldId xmlns:r="http://schemas.openxmlformats.org/officeDocument/2006/relationships" id="266" r:id="R58662f318b9a4187"/>
    <p:sldId xmlns:r="http://schemas.openxmlformats.org/officeDocument/2006/relationships" id="267" r:id="Rb1743a9825fc48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31a485c4dd4eef" /><Relationship Type="http://schemas.openxmlformats.org/officeDocument/2006/relationships/slideMaster" Target="/ppt/slideMasters/slideMaster1.xml" Id="Rc7d27fc4d29c4f9f" /><Relationship Type="http://schemas.openxmlformats.org/officeDocument/2006/relationships/notesMaster" Target="/ppt/notesMasters/notesMaster1.xml" Id="R0f27624533de47d3" /><Relationship Type="http://schemas.openxmlformats.org/officeDocument/2006/relationships/presProps" Target="/ppt/presProps.xml" Id="Rbadbcdb097824379" /><Relationship Type="http://schemas.openxmlformats.org/officeDocument/2006/relationships/tableStyles" Target="/ppt/tableStyles.xml" Id="R1f02e766f7d34d89" /><Relationship Type="http://schemas.openxmlformats.org/officeDocument/2006/relationships/slide" Target="/ppt/slides/slide1.xml" Id="R037fa523565c4873" /><Relationship Type="http://schemas.openxmlformats.org/officeDocument/2006/relationships/slide" Target="/ppt/slides/slide2.xml" Id="Rccb18d06e4bc4176" /><Relationship Type="http://schemas.openxmlformats.org/officeDocument/2006/relationships/slide" Target="/ppt/slides/slide3.xml" Id="R57e36ea2c80d48c3" /><Relationship Type="http://schemas.openxmlformats.org/officeDocument/2006/relationships/slide" Target="/ppt/slides/slide4.xml" Id="R4eb267212ab5434f" /><Relationship Type="http://schemas.openxmlformats.org/officeDocument/2006/relationships/slide" Target="/ppt/slides/slide5.xml" Id="Rdd79a25807ee4159" /><Relationship Type="http://schemas.openxmlformats.org/officeDocument/2006/relationships/slide" Target="/ppt/slides/slide6.xml" Id="R53e70ac4a6e04bfb" /><Relationship Type="http://schemas.openxmlformats.org/officeDocument/2006/relationships/slide" Target="/ppt/slides/slide7.xml" Id="Rf2c499589dda4d9d" /><Relationship Type="http://schemas.openxmlformats.org/officeDocument/2006/relationships/slide" Target="/ppt/slides/slide8.xml" Id="Rdad106019eef43f7" /><Relationship Type="http://schemas.openxmlformats.org/officeDocument/2006/relationships/slide" Target="/ppt/slides/slide9.xml" Id="Rfe2501fdd94345a6" /><Relationship Type="http://schemas.openxmlformats.org/officeDocument/2006/relationships/slide" Target="/ppt/slides/slide10.xml" Id="R83976cbac0614bf7" /><Relationship Type="http://schemas.openxmlformats.org/officeDocument/2006/relationships/slide" Target="/ppt/slides/slide11.xml" Id="R58662f318b9a4187" /><Relationship Type="http://schemas.openxmlformats.org/officeDocument/2006/relationships/slide" Target="/ppt/slides/slide12.xml" Id="Rb1743a9825fc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2a8e3642bf4d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880812bc0d47bf" /><Relationship Type="http://schemas.openxmlformats.org/officeDocument/2006/relationships/notesMaster" Target="/ppt/notesMasters/notesMaster1.xml" Id="R63f751034dee49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5642a8d30b4d45" /><Relationship Type="http://schemas.openxmlformats.org/officeDocument/2006/relationships/notesMaster" Target="/ppt/notesMasters/notesMaster1.xml" Id="Rb529e2635ad84a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a424ab7f454fde" /><Relationship Type="http://schemas.openxmlformats.org/officeDocument/2006/relationships/notesMaster" Target="/ppt/notesMasters/notesMaster1.xml" Id="R8b6e515952b544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967d808b0c4204" /><Relationship Type="http://schemas.openxmlformats.org/officeDocument/2006/relationships/notesMaster" Target="/ppt/notesMasters/notesMaster1.xml" Id="R73a0d4739d054f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11024a69e442fc" /><Relationship Type="http://schemas.openxmlformats.org/officeDocument/2006/relationships/notesMaster" Target="/ppt/notesMasters/notesMaster1.xml" Id="R1726e1422bde45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ec81ed4b514c49" /><Relationship Type="http://schemas.openxmlformats.org/officeDocument/2006/relationships/notesMaster" Target="/ppt/notesMasters/notesMaster1.xml" Id="R2bd2ca9ac8894f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1b1e3e0fc34ccd" /><Relationship Type="http://schemas.openxmlformats.org/officeDocument/2006/relationships/notesMaster" Target="/ppt/notesMasters/notesMaster1.xml" Id="Rc577246fdf3240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9b20627c154fc4" /><Relationship Type="http://schemas.openxmlformats.org/officeDocument/2006/relationships/notesMaster" Target="/ppt/notesMasters/notesMaster1.xml" Id="R864f273c7b4343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d8ee380ffb4dbc" /><Relationship Type="http://schemas.openxmlformats.org/officeDocument/2006/relationships/notesMaster" Target="/ppt/notesMasters/notesMaster1.xml" Id="Rf5b677c20b3d4a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e83050a5cd44f3" /><Relationship Type="http://schemas.openxmlformats.org/officeDocument/2006/relationships/notesMaster" Target="/ppt/notesMasters/notesMaster1.xml" Id="Rab7040bbba5e4c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f273fbf7a54e1a" /><Relationship Type="http://schemas.openxmlformats.org/officeDocument/2006/relationships/notesMaster" Target="/ppt/notesMasters/notesMaster1.xml" Id="Raf8375d6e19747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9960c5426f40e0" /><Relationship Type="http://schemas.openxmlformats.org/officeDocument/2006/relationships/notesMaster" Target="/ppt/notesMasters/notesMaster1.xml" Id="R70317415528d42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local educational MVP that connects grammar checking, history, weakness detection, vocabulary, and targeted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docs/PROJECT_SPEC.md. The number of Finnish cases is general linguistic context, not an evaluated project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loop is the product's central differentiator. Demonstrate it in the same order during the live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Emphasize that the Phase 5 model is an experimental comparison artifact, not the production checker.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https://github.com/UniversalDependencies/UD_Finnish-TDT and https://github.com/UniversalDependencies/UD_Finnish-FTB. Counts come from the Phase 3 preprocessing manifest documented in docs/DATA_SOURCES.md.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production generator uses corpus-observed compatible forms and records the exact transformation. The presentation example is the project’s canonical verb-agreement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reports/final_evaluation_v1.json and models/error_classifier_v1_metadata.json. This baseline classifies an already-incorrect sentence into one of three synthetic categories.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app/services/grammar_service.py, app/services/llm_service.py, and the preserved Phase 11 grammar output for single_verb_01. The screenshot is explicitly a previously recorded real output, not a current live 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app/services/database_service.py and app/services/profile_service.py. The screenshot uses the disposable demo database prepared for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were captured from the project Streamlit UI. Grammar and exercise screenshots use preserved real Phase 11 outputs because the Phase 12 live grammar smoke encountered provider unavailability.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reports/final_evaluation_v1.json. Displayed rates are loaded from the machine-readable report. Grammar output validity was 39/40. Exercise structural validity was 20/20. Exercise distractor PASS rate was 11/20.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summarizing what the system proves today and what still requires authentic learner data, Finnish-teacher validation, and production infrastructure.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fdccd6acb4d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4d97976cdb4c55" /><Relationship Type="http://schemas.openxmlformats.org/officeDocument/2006/relationships/slideLayout" Target="/ppt/slideLayouts/slideLayout1.xml" Id="Ra0a26e0e3db848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26e0e3db848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2eb1eb23f479e" /><Relationship Type="http://schemas.openxmlformats.org/officeDocument/2006/relationships/notesSlide" Target="/ppt/notesSlides/notesSlide1.xml" Id="R16b9b51558324d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54a93f8c5494e" /><Relationship Type="http://schemas.openxmlformats.org/officeDocument/2006/relationships/notesSlide" Target="/ppt/notesSlides/notesSlide2.xml" Id="R264dea41472c47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ebb8444c64cd2" /><Relationship Type="http://schemas.openxmlformats.org/officeDocument/2006/relationships/notesSlide" Target="/ppt/notesSlides/notesSlide3.xml" Id="Rabda75e3e09844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c211fa9c343bd" /><Relationship Type="http://schemas.openxmlformats.org/officeDocument/2006/relationships/notesSlide" Target="/ppt/notesSlides/notesSlide4.xml" Id="R2009866d35c546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270393e744615" /><Relationship Type="http://schemas.openxmlformats.org/officeDocument/2006/relationships/notesSlide" Target="/ppt/notesSlides/notesSlide5.xml" Id="Rab380888fedf4e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02a756cfd4191" /><Relationship Type="http://schemas.openxmlformats.org/officeDocument/2006/relationships/notesSlide" Target="/ppt/notesSlides/notesSlide6.xml" Id="Ra3e0c7138d1d46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cefcdb612462d" /><Relationship Type="http://schemas.openxmlformats.org/officeDocument/2006/relationships/chart" Target="/ppt/slides/charts/chart1.xml" Id="R3ec92e3ac64b4538" /><Relationship Type="http://schemas.openxmlformats.org/officeDocument/2006/relationships/notesSlide" Target="/ppt/notesSlides/notesSlide7.xml" Id="Rfd4e517963454a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722beefc64941" /><Relationship Type="http://schemas.openxmlformats.org/officeDocument/2006/relationships/image" Target="/ppt/media/image.png" Id="R813073cfd0f54ff4" /><Relationship Type="http://schemas.openxmlformats.org/officeDocument/2006/relationships/notesSlide" Target="/ppt/notesSlides/notesSlide8.xml" Id="R3b8a4e2446c54a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1999dd9e04ea5" /><Relationship Type="http://schemas.openxmlformats.org/officeDocument/2006/relationships/image" Target="/ppt/media/image2.png" Id="R71070160ed664aed" /><Relationship Type="http://schemas.openxmlformats.org/officeDocument/2006/relationships/notesSlide" Target="/ppt/notesSlides/notesSlide9.xml" Id="R0179a16228f64b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87f0846be4ae9" /><Relationship Type="http://schemas.openxmlformats.org/officeDocument/2006/relationships/image" Target="/ppt/media/image3.png" Id="R2fb406a192a04c34" /><Relationship Type="http://schemas.openxmlformats.org/officeDocument/2006/relationships/image" Target="/ppt/media/image4.png" Id="R2bbeec2e5d4a48e7" /><Relationship Type="http://schemas.openxmlformats.org/officeDocument/2006/relationships/image" Target="/ppt/media/image5.png" Id="R5e75ede6f8f64a28" /><Relationship Type="http://schemas.openxmlformats.org/officeDocument/2006/relationships/notesSlide" Target="/ppt/notesSlides/notesSlide10.xml" Id="R7f0dc56be7a14e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ca4a8e1ce4315" /><Relationship Type="http://schemas.openxmlformats.org/officeDocument/2006/relationships/chart" Target="/ppt/slides/charts/chart2.xml" Id="R985d3d04b21e462b" /><Relationship Type="http://schemas.openxmlformats.org/officeDocument/2006/relationships/notesSlide" Target="/ppt/notesSlides/notesSlide11.xml" Id="R5364aaa07e6f42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2ce25a74142cf" /><Relationship Type="http://schemas.openxmlformats.org/officeDocument/2006/relationships/notesSlide" Target="/ppt/notesSlides/notesSlide12.xml" Id="R3b2dfff0b0b645b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155EEF"/>
            </a:solidFill>
          </c:spPr>
          <c:cat>
            <c:strLit>
              <c:ptCount val="3"/>
              <c:pt idx="0">
                <c:v>Train</c:v>
              </c:pt>
              <c:pt idx="1">
                <c:v>Validation</c:v>
              </c:pt>
              <c:pt idx="2">
                <c:v>Test</c:v>
              </c:pt>
            </c:strLit>
          </c:cat>
          <c:val>
            <c:numLit>
              <c:formatCode>General</c:formatCode>
              <c:ptCount val="3"/>
              <c:pt idx="0">
                <c:v>93.3</c:v>
              </c:pt>
              <c:pt idx="1">
                <c:v>69.1</c:v>
              </c:pt>
              <c:pt idx="2">
                <c:v>71</c:v>
              </c:pt>
            </c:numLit>
          </c:val>
        </c:ser>
        <c:ser>
          <c:idx val="1"/>
          <c:order val="1"/>
          <c:tx>
            <c:v>Macro F1</c:v>
          </c:tx>
          <c:spPr>
            <a:solidFill xmlns:a="http://schemas.openxmlformats.org/drawingml/2006/main">
              <a:srgbClr val="6EA8FE"/>
            </a:solidFill>
          </c:spPr>
          <c:cat>
            <c:strLit>
              <c:ptCount val="3"/>
              <c:pt idx="0">
                <c:v>Train</c:v>
              </c:pt>
              <c:pt idx="1">
                <c:v>Validation</c:v>
              </c:pt>
              <c:pt idx="2">
                <c:v>Test</c:v>
              </c:pt>
            </c:strLit>
          </c:cat>
          <c:val>
            <c:numLit>
              <c:formatCode>General</c:formatCode>
              <c:ptCount val="3"/>
              <c:pt idx="0">
                <c:v>93.3</c:v>
              </c:pt>
              <c:pt idx="1">
                <c:v>68.7</c:v>
              </c:pt>
              <c:pt idx="2">
                <c:v>70.9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Segoe UI"/>
              <a:ea typeface="Segoe UI"/>
              <a:cs typeface="Segoe UI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Rate</c:v>
          </c:tx>
          <c:spPr>
            <a:solidFill xmlns:a="http://schemas.openxmlformats.org/drawingml/2006/main">
              <a:srgbClr val="155EEF"/>
            </a:solidFill>
          </c:spPr>
          <c:cat>
            <c:strLit>
              <c:ptCount val="6"/>
              <c:pt idx="0">
                <c:v>Grammar F1</c:v>
              </c:pt>
              <c:pt idx="1">
                <c:v>Correction exact</c:v>
              </c:pt>
              <c:pt idx="2">
                <c:v>Structured output</c:v>
              </c:pt>
              <c:pt idx="3">
                <c:v>Exercise structure</c:v>
              </c:pt>
              <c:pt idx="4">
                <c:v>Answer correct</c:v>
              </c:pt>
              <c:pt idx="5">
                <c:v>Distractor pass</c:v>
              </c:pt>
            </c:strLit>
          </c:cat>
          <c:val>
            <c:numLit>
              <c:formatCode>General</c:formatCode>
              <c:ptCount val="6"/>
              <c:pt idx="0">
                <c:v>94.4</c:v>
              </c:pt>
              <c:pt idx="1">
                <c:v>94.4</c:v>
              </c:pt>
              <c:pt idx="2">
                <c:v>97.5</c:v>
              </c:pt>
              <c:pt idx="3">
                <c:v>100</c:v>
              </c:pt>
              <c:pt idx="4">
                <c:v>95</c:v>
              </c:pt>
              <c:pt idx="5">
                <c:v>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5E9D6-D432-4FC4-B09D-931E217C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71157-3F34-4AC5-B686-7DF40DE4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4F498-58D0-4C92-9AC7-A8972E4F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FINNISH LEARNING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8E9BA-5EEE-473D-9D63-F6464DEB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7E4F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7E4FF"/>
                </a:solidFill>
                <a:latin typeface="Segoe UI"/>
                <a:ea typeface="Segoe UI"/>
                <a:cs typeface="Segoe UI"/>
              </a:rPr>
              <a:t>Grammar feedback that becomes targeted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55AE3-CDCF-4CD0-BB2A-7987A419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A8F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6EA8FE"/>
                </a:solidFill>
                <a:latin typeface="Segoe UI"/>
                <a:ea typeface="Segoe UI"/>
                <a:cs typeface="Segoe UI"/>
              </a:rPr>
              <a:t>Final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70D10-1647-4622-A1BF-90F5E0E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AI-assisted Finnish learning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85201-6CEC-45BA-AC73-7C516C1C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WRITE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CHECK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UNDERSTAND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936128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24D8E-0BB0-471B-AAE0-FA606429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2D7D5-AAB1-4750-9F2B-CD9B7206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Finnish learners need more than a correction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DA6B3-E9DA-4CA3-B381-F3E6E6CA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The learning problem is recurring structure, not a single typo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3238C-4EE6-4B73-9FEC-8EB89DD6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61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E17AE-3A13-4B87-AD46-90F0A1A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productive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150B4-F12D-45C0-AD68-DEB288D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Rich inflection makes one surface error hard to diagnose without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E6102-FE68-4404-9359-4780A033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6438900" cy="3810000"/>
          </a:xfrm>
          <a:prstGeom xmlns:a="http://schemas.openxmlformats.org/drawingml/2006/main" prst="roundRect">
            <a:avLst>
              <a:gd name="adj" fmla="val 5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63EE6-F3B8-4E3A-ACBC-23339D74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43100"/>
            <a:ext cx="560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A learner may receive the right form and still repeat the same mistake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9F801-7770-402B-8BE8-80F4CF71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33700"/>
            <a:ext cx="5467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Immediate feedback should identify the grammar category.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A useful explanation should connect the form to a Finnish rule.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Stored mistakes should guide the next practice task.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126BE-BB09-46AB-B5E7-EA5C9FEE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768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Project goal: turn correction into a repeatable learning loop.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4ECB1-3662-43C0-8114-C6675097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094DB-47C9-4B14-8564-CD4BE9A6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Source: docs/PROJECT_SPEC.md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E28EC-8D9C-421B-BFEB-E211D815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0158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208C5-4D1C-438E-872F-A96CDA17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9D338-AE5A-4DC9-95E7-27A4A177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The personalized learning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2A32D-962A-4057-8905-CC1B21B7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Each step is implemented as an explicit application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21CE9-332C-476A-A918-5358ED00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4287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WRITE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27F3D-C55C-4C4C-997F-4FB8FF5E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28875"/>
            <a:ext cx="14287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DDE9FF"/>
          </a:solidFill>
          <a:ln xmlns:a="http://schemas.openxmlformats.org/drawingml/2006/main" w="9525">
            <a:solidFill>
              <a:srgbClr val="DDE9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1E6FF-DE34-4637-83E1-BD774EC7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14287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9525">
            <a:solidFill>
              <a:srgbClr val="DDF7E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UNDERSTAND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2C159-760C-43FA-B3E6-6A627412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28875"/>
            <a:ext cx="14287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9525">
            <a:solidFill>
              <a:srgbClr val="FFF2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REMEMBER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48CF4-D138-4452-8F00-B6021FFC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28875"/>
            <a:ext cx="14287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DE6E6"/>
          </a:solidFill>
          <a:ln xmlns:a="http://schemas.openxmlformats.org/drawingml/2006/main" w="9525">
            <a:solidFill>
              <a:srgbClr val="FDE6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ANALYZE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B8745-6447-4D86-A3F9-E1C1E522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28875"/>
            <a:ext cx="14287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EDE7FF"/>
          </a:solidFill>
          <a:ln xmlns:a="http://schemas.openxmlformats.org/drawingml/2006/main" w="9525">
            <a:solidFill>
              <a:srgbClr val="EDE7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PRACTICE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14550" y="2962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EEF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24300" y="2962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EEF"/>
            </a:solidFill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34050" y="2962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EEF"/>
            </a:solidFill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43800" y="2962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EEF"/>
            </a:solidFill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62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EEF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27305-3B82-40D5-81FE-0EAAAFD0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Grammar results become learner history. Learner history becomes a ranked weakness. The weakness selects a practice target.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60099-4319-4580-938C-61775521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4D07B-F184-49C9-BE51-78259020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Source: docs/PROJECT_SPEC.md and app/ui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D14ED-CCC1-4485-9759-A2A98197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935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BE85B5-3FCC-4004-957B-DEC95725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BAE4B-8FFA-4262-99A3-7163707D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Implemented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DB516-BB3E-45A3-A037-36282411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Production grammar and exercise flows share one provider-isolated LLM transport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CB6E2-7EA4-4029-BEDB-5E887B17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762125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STREAMLIT UI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 pages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24E27-DC37-44F6-970A-C87F2F8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1809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6EA8F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Grammar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B842A-173A-4EE6-A013-AAC65886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1809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9525">
            <a:solidFill>
              <a:srgbClr val="8ED8B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Vocabulary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6C8AA-C77C-437A-A29B-A0C3F003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1809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9525">
            <a:solidFill>
              <a:srgbClr val="F2C66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Database + Profile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428875" y="1895475"/>
            <a:ext cx="809625" cy="752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28875" y="2647950"/>
            <a:ext cx="809625" cy="295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28875" y="2647950"/>
            <a:ext cx="809625" cy="1343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DE6D0-07BC-4DE5-AA3D-CF6533ED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19050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LLM Service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Chat Completions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8653C-4CC6-4D0E-8E4B-974B692C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19050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A7A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Lexical index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UD + FinnWordNet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D7465-6E6F-4436-AF5A-DC11B18A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9050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7B61C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Exercise Service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validated output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048250" y="1895475"/>
            <a:ext cx="114300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EEF"/>
            </a:solidFill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2943225"/>
            <a:ext cx="114300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7A4B"/>
            </a:solidFill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048250" y="3990975"/>
            <a:ext cx="1143000" cy="485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B61C9"/>
            </a:solidFill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13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7143750" y="2476500"/>
            <a:ext cx="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61C9"/>
            </a:solidFill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D88C3-0209-4E74-ABE9-E461FF9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47850"/>
            <a:ext cx="2381250" cy="24384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DECF7-7FAC-433B-B109-CF987C8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Experimental ML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482BD-A96F-4304-9937-66A80DD1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TF-IDF + Logistic Regression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956A4-8CEC-4BB9-95F3-23C15551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Evaluation component</a:t>
            </a:r>
          </a:p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It does not power the production grammar flow.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F7C84-5D77-47B3-8789-BCE5F6FF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E03D4-9E6D-42CA-A5FF-132E8770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Source: docs/ARCHITECTURE.md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3D016-6E57-4AAB-95F6-4B95D3A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47571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178F2-0072-4A09-B8C4-0084887C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5BA60-6A02-46A9-9797-97691A24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Traceable Finnish data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F5869-D9ED-49B6-8F1E-1431B87A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Public treebanks remain distinct from derived learner-error and evaluation artifacts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A6912-6715-4114-B7B2-E7294FA0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6670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UD Finnish-TDT</a:t>
            </a:r>
          </a:p>
          <a:p xmlns:a="http://schemas.openxmlformats.org/drawingml/2006/main">
            <a:pPr>
              <a:defRPr sz="172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CC BY-SA 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34518-1E1E-4D9D-96DC-B39F3421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6670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UD Finnish-FTB</a:t>
            </a:r>
          </a:p>
          <a:p xmlns:a="http://schemas.openxmlformats.org/drawingml/2006/main">
            <a:pPr>
              <a:defRPr sz="172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CC BY 4.0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7FAEC-0400-4C7D-BA03-3A51BD7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26670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Strict CoNLL-U parsing</a:t>
            </a:r>
          </a:p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33,859 sentences</a:t>
            </a:r>
          </a:p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361,818 word 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FB8BF-5C7C-4D6C-B79E-A5DB7794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33375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Controlled synthetic errors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source IDs + leakage_group_id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versioned manifests and hashes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52800" y="2209800"/>
            <a:ext cx="981075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5EEF"/>
            </a:solidFill>
            <a:tailEnd type="arrow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52800" y="2762250"/>
            <a:ext cx="981075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A7A4B"/>
            </a:solidFill>
            <a:tailEnd type="arrow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00875" y="2762250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A23B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99E9A-FCF5-4B82-A42A-6811F4BE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62500"/>
            <a:ext cx="704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FinnWordNet adds English sense candidates to the separate vocabulary index. It does not label grammar errors.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50ECF-44B4-494D-A8F4-D8831F07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15520-7FB7-4AFC-86E2-B7F3374E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Sources and licenses: docs/DATA_SOURCES.md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9056D-5BFF-4656-B4FC-46F7E3E2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7960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17E18-B83B-421E-B09A-87DAE098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DATA TRANSFORMATION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7E886-2558-4935-98B5-5B416290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Controlled synthetic learner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566A7-AA3F-4DFA-829A-0339AFE6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A narrow, reproducible proxy for the classical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88F06-1113-4F27-9DEB-5F30F4BC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A7A4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0A7A4B"/>
                </a:solidFill>
                <a:latin typeface="Segoe UI"/>
                <a:ea typeface="Segoe UI"/>
                <a:cs typeface="Segoe UI"/>
              </a:rPr>
              <a:t>CORRECT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6EF76-43BB-4B92-9C39-D65C533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5720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E2665-7C67-49A3-9277-1F8B8448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Minä menen kouluun.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7507E-A2F0-48CB-B5C2-6498251A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5B5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05B5B"/>
                </a:solidFill>
                <a:latin typeface="Segoe UI"/>
                <a:ea typeface="Segoe UI"/>
                <a:cs typeface="Segoe UI"/>
              </a:rPr>
              <a:t>TRANSFORMATION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56C1F-BC07-432C-8CC5-AF603645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5720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DE6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F852C-6187-4D82-8F67-EF09E0CA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05B5B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05B5B"/>
                </a:solidFill>
                <a:latin typeface="Segoe UI"/>
                <a:ea typeface="Segoe UI"/>
                <a:cs typeface="Segoe UI"/>
              </a:rPr>
              <a:t>minä + 3rd person 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32F29-E69D-4F2D-BE39-A475E141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7625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D573D-2910-457E-96F9-F7C45937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5B5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05B5B"/>
                </a:solidFill>
                <a:latin typeface="Segoe UI"/>
                <a:ea typeface="Segoe UI"/>
                <a:cs typeface="Segoe UI"/>
              </a:rPr>
              <a:t>SYNTHETIC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0CEDD-5B50-4F16-9393-150740A9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Minä menee kouluun.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8F176-B7EB-4787-A67D-9F0EB861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81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VERB_CONJUGATION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5B4E8-C316-4C8B-8407-5951C75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Why synthetic data: reproducible transformations were feasible within scope, while suitable authentic learner data was not available. The result does not prove real-learner generalization.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16E5B-12D3-4CB5-8DDB-01ADCCAC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4C4E8-282B-4CC4-BC91-8F8C1E14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Source: data/errors/error_generation_manifest_v1.json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A6330-C612-4539-B128-2D2ADB18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7743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7B818-332E-4CDD-A4BF-8E021139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MACHINE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1ABDD-27CA-43F4-A240-4DBE8B69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Classical ML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84EAA-3923-4AC4-9E79-DCF7AF1F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Character TF-IDF and Logistic Regression on three synthetic error classes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c92e3ac64b453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963CE-97A1-484A-9DC1-1685812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16764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FCB42-A970-4D93-B505-1DA9C311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Test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DC90D-83C1-42E2-8590-BBA9434D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71.0%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C5E1C-F2EF-4502-89F4-637364F6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14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Accuracy</a:t>
            </a:r>
          </a:p>
          <a:p xmlns:a="http://schemas.openxmlformats.org/drawingml/2006/main">
            <a:pPr>
              <a:defRPr sz="12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Macro F1 70.9%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ECDC0-BC2B-44AD-ACBE-0B83BB2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3257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Group-aware 70/15/15 approximation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Zero leakage-group overlap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Pipeline fitted on training data only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Shortcut risk remains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A5BC3-2E9C-4C92-9818-A83ABE4D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0C7E6-0406-4240-8875-1D79BDC8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n = 3,000 synthetic examples; test n = 449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F238B-8874-438C-942C-B48E7774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0759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578E8-5F5A-4485-B8BB-462FF94B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PRODUCTION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BC46B-CAD2-41A6-8238-2D96B55F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Validated LLM grammar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88F73-A38E-4583-A8CD-43B53F56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Contextual detection, correction, explanation, and learning tips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073cfd0f54ff4"/>
          <a:srcRect xmlns:a="http://schemas.openxmlformats.org/drawingml/2006/main" l="5767" t="0" r="57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524000"/>
            <a:ext cx="5581650" cy="39433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610A9-0F14-4C86-B929-A5120C38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3810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Grammar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6DDAF-ECBB-49A8-8EFD-A120BA38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3810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LLM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1BB01-29CA-4D06-8392-0A302B7E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810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JSON extraction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2F8C1-EA09-4E26-80CF-FFDDA44D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3810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9525">
            <a:solidFill>
              <a:srgbClr val="8ED8B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GrammarResult validation</a:t>
            </a:r>
          </a:p>
        </p:txBody>
      </p:sp>
      <p:cxnSp>
        <p:nvCxnSpPr>
          <p:cNvPr id="24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609850" y="22669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EEF"/>
            </a:solidFill>
            <a:tailEnd type="arrow" w="sm" len="sm"/>
          </a:ln>
        </p:spPr>
      </p:cxnSp>
      <p:cxnSp>
        <p:nvCxnSpPr>
          <p:cNvPr id="25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609850" y="32385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EEF"/>
            </a:solidFill>
            <a:tailEnd type="arrow" w="sm" len="sm"/>
          </a:ln>
        </p:spPr>
      </p:cxnSp>
      <p:cxnSp>
        <p:nvCxnSpPr>
          <p:cNvPr id="26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609850" y="42100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EEF"/>
            </a:solidFill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0EDBE-8B34-4B22-8F14-E72F2541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Minä menee kouluun.  →  Minä menen kouluun.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4ED8F-9978-4942-9A71-3240DF1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23886-2B02-4E1E-9C5D-8E9BDC60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Screenshot: previously recorded real Phase 11 system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25DC2-3E27-4CEE-BF29-52DBCB45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98387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F53F8-E5B0-4C3C-A947-E55B650F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LEARNER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4565D-5F33-4E18-AF5A-2D67EC81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Personalization from stored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A4DAD-9EFE-454D-A0E0-40F62C3A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Deterministic aggregation selects the learner's highest supported weakness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70160ed664aed"/>
          <a:srcRect xmlns:a="http://schemas.openxmlformats.org/drawingml/2006/main" l="436" t="0" r="4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43050"/>
            <a:ext cx="649605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BEF32-A75C-446A-8A0C-C390CBA4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0C29B-A3F6-4F53-A4D8-AA1AA7D2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Persist once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8F362-6803-4B49-9F3A-95B57111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One grammar check and its errors use one SQLite transaction.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4FEFB-B46D-4868-89B9-E7B9DFEB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86F90-630C-4A1E-938B-31B6B7F3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Aggregate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8420E-3D70-414F-8869-868F32AC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Counts and percentages come from stored error rows.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E338A-CE23-463F-857B-08D4965A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57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6EF8A-8A69-4B29-BCDB-809F6FE1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Select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BE7EC-59A9-4251-84E0-CA341D73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Highest supported category drives the next exercise.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37120-7799-40C4-8071-3AED58D8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CDDB2-92C7-4A4A-BA3D-DC1E9BF6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Controlled demo_user state; no production database is committed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A778E-D1F0-4FCD-B055-5D15A91E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587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4A332-490C-494B-916D-22613DDD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PRODUCT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4AC9C-7A51-4AB1-99A4-E4BBA56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Integrated Streamlit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BCEA4-521B-451E-981F-A1FB8A48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Focused views support the complete learner flow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406a192a04c34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43050"/>
            <a:ext cx="3429000" cy="2095500"/>
          </a:xfrm>
          <a:prstGeom xmlns:a="http://schemas.openxmlformats.org/drawingml/2006/main" prst="roundRect">
            <a:avLst>
              <a:gd name="adj" fmla="val 8182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eec2e5d4a48e7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543050"/>
            <a:ext cx="3429000" cy="2095500"/>
          </a:xfrm>
          <a:prstGeom xmlns:a="http://schemas.openxmlformats.org/drawingml/2006/main" prst="roundRect">
            <a:avLst>
              <a:gd name="adj" fmla="val 8182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5ede6f8f64a28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43050"/>
            <a:ext cx="3429000" cy="2095500"/>
          </a:xfrm>
          <a:prstGeom xmlns:a="http://schemas.openxmlformats.org/drawingml/2006/main" prst="roundRect">
            <a:avLst>
              <a:gd name="adj" fmla="val 818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7187D-869D-4099-B8FE-8395D7DE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Grammar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3CB54-ADB2-4164-8F79-85D7D572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Vocabulary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B5B07-4061-4907-AE60-EC860B2A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Targeted practice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04EFC-C33F-4A62-9AF5-5649E13D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48200"/>
            <a:ext cx="9029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Explicit actions make Streamlit reruns safe: rendering does not repeat API calls or database inserts, and answer checking keeps the exercise stable.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559F2-1374-459B-88A0-EECF174D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B6D8B-CE8C-4047-B1C6-5BC61D60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Screenshots from the actual application components; fallback outputs are labeled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2E5A7-D718-437A-9169-41B42D33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89542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2D201-FA4F-441D-9AA0-6AE7A5FD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258D6-4ED6-4F24-B1F1-7C4A0995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Phase 11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0655E-10EA-4061-AA0F-9303B390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Quantitative structure and AI-assisted linguistic review are reported separately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6286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5d3d04b21e462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D32BE-9AFD-4D62-9473-1384F362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57350"/>
            <a:ext cx="3714750" cy="3695700"/>
          </a:xfrm>
          <a:prstGeom xmlns:a="http://schemas.openxmlformats.org/drawingml/2006/main" prst="roundRect">
            <a:avLst>
              <a:gd name="adj" fmla="val 567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D5EB1-F324-4446-B9E0-8E884DF1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13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3213C"/>
                </a:solidFill>
                <a:latin typeface="Segoe UI"/>
                <a:ea typeface="Segoe UI"/>
                <a:cs typeface="Segoe UI"/>
              </a:rPr>
              <a:t>Selected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34C88-AF58-46C9-A2C3-7594477D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94.44%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D8538-642B-48CA-AB6A-11BFA04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Grammar detection F1</a:t>
            </a:r>
          </a:p>
          <a:p xmlns:a="http://schemas.openxmlformats.org/drawingml/2006/main">
            <a:pPr>
              <a:defRPr sz="127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39 predictions from 40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6F907-971D-456F-AE8C-537E303F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5B5B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05B5B"/>
                </a:solidFill>
                <a:latin typeface="Segoe UI"/>
                <a:ea typeface="Segoe UI"/>
                <a:cs typeface="Segoe UI"/>
              </a:rPr>
              <a:t>1/22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95605-D2A9-42E9-85FF-39E65C74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False positives among valid cases</a:t>
            </a:r>
          </a:p>
          <a:p xmlns:a="http://schemas.openxmlformats.org/drawingml/2006/main">
            <a:pPr>
              <a:defRPr sz="127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4.55% frozen-set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A5500-AEBA-47C3-8AF4-C8114DC1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9A23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9A23B"/>
                </a:solidFill>
                <a:latin typeface="Segoe UI"/>
                <a:ea typeface="Segoe UI"/>
                <a:cs typeface="Segoe UI"/>
              </a:rPr>
              <a:t>AI-assisted qualitative linguistic review, not Finnish-teacher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F5566-7DFF-4CE9-BECE-60670E89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7DEC2-0780-4614-8033-0DF419BC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F6B7A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F6B7A"/>
                </a:solidFill>
                <a:latin typeface="Segoe UI"/>
                <a:ea typeface="Segoe UI"/>
                <a:cs typeface="Segoe UI"/>
              </a:rPr>
              <a:t>Grammar n = 40; exercise n = 20; ML test n = 449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3DF4B-078E-4336-8DAA-8A5C8C7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5EEF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76682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21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AF7EF-9A1D-4AF8-8C87-ACAA81E1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A8FE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6EA8FE"/>
                </a:solidFill>
                <a:latin typeface="Segoe UI"/>
                <a:ea typeface="Segoe UI"/>
                <a:cs typeface="Segoe UI"/>
              </a:rPr>
              <a:t>LIMITATIONS AND NEXT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EF07D-BDBB-4C6F-A0F3-AFB6C31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complete MVP with honest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59965-BE68-434C-BC54-FB1DB853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85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ML baseline uses controlled synthetic learner errors.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grammar set has 40 cases and the exercise sample has 20 items.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Qualitative review was AI-assisted, not a Finnish-teacher evaluation.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LLM output and latency depend on the external provider.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Vocabulary coverage is corpus-bounded and meanings are not context-ranked.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SQLite and demo_user suit a local MVP, not multi-user production.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E5F8D-5A72-4FE2-8F26-A413818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238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F6105-BE87-495D-A672-7E4D94D5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Future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B7D18-382D-4C18-83D9-1EBFD888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25717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Authentic learner corpus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Finnish-teacher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Larger evaluation sample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Stronger exercise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Managed identity and persistence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301E0-2EFF-4F6E-921D-5CF307CB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7E4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D7E4FF"/>
                </a:solidFill>
                <a:latin typeface="Segoe UI"/>
                <a:ea typeface="Segoe UI"/>
                <a:cs typeface="Segoe UI"/>
              </a:rPr>
              <a:t>The project demonstrates an evidence-backed learning loop from input to personalized practice.</a:t>
            </a:r>
          </a:p>
        </p:txBody>
      </p:sp>
    </p:spTree>
    <p:extLst>
      <p:ext uri="{BB962C8B-B14F-4D97-AF65-F5344CB8AC3E}">
        <p14:creationId xmlns:p14="http://schemas.microsoft.com/office/powerpoint/2010/main" val="99800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2026-09-13T09:49:14.2360000Z</dcterms:created>
  <dcterms:modified xsi:type="dcterms:W3CDTF">2026-09-13T09:49:14.2360000Z</dcterms:modified>
</coreProperties>
</file>